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5143500" type="screen16x9"/>
  <p:notesSz cx="5143500" cy="9144000"/>
  <p:embeddedFontLs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Light" panose="00000400000000000000" pitchFamily="2" charset="0"/>
      <p:regular r:id="rId18"/>
      <p:italic r:id="rId19"/>
    </p:embeddedFont>
    <p:embeddedFont>
      <p:font typeface="Source Sans 3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1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7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892671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Superstore Sales &amp; Profitability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997050"/>
            <a:ext cx="4667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i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Storytelling &amp; Statistical Validation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2404690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673150" y="255426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Analyst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3150" y="2863974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Smit Shewale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3577" y="3402509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9" name="Text 6"/>
          <p:cNvSpPr/>
          <p:nvPr/>
        </p:nvSpPr>
        <p:spPr>
          <a:xfrm>
            <a:off x="673150" y="355208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Programme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3150" y="3861792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Analytics Internship Project @ApexPlanet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982" y="439415"/>
            <a:ext cx="3025229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Business Objective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49982" y="983233"/>
            <a:ext cx="4815036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analysis explores the Superstore dataset to uncover actionable insights across sales, profitability, regions, and customer segments — driving smarter strategic decisions.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982" y="1489993"/>
            <a:ext cx="321394" cy="3213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9489" y="1489993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Analyse Trends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909489" y="1745307"/>
            <a:ext cx="4355529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Examine sales and profit trends over time to identify growth patterns and seasonal fluctuations.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982" y="2348731"/>
            <a:ext cx="321394" cy="3213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9489" y="2348731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Identify Performance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909489" y="2604046"/>
            <a:ext cx="4355529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Pinpoint high-performing and low-performing categories, sub-categories, and products.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982" y="3207469"/>
            <a:ext cx="321394" cy="32139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9489" y="3207469"/>
            <a:ext cx="2005533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Regional &amp; Segment Insights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909489" y="3462784"/>
            <a:ext cx="4355529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 how different regions and customer segments contribute to overall revenue.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982" y="4066208"/>
            <a:ext cx="321394" cy="32139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9489" y="4066208"/>
            <a:ext cx="1998390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Generate Recommendations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909489" y="4321522"/>
            <a:ext cx="4355529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 data-backed business recommendations validated through statistical analysis.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167" y="387772"/>
            <a:ext cx="308022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Dataset Overview &amp; Tools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8167" y="105898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Dataset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8167" y="1366019"/>
            <a:ext cx="4381426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Superstore dataset contains </a:t>
            </a:r>
            <a:r>
              <a:rPr lang="en-US" sz="1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9,994 transaction records</a:t>
            </a: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</a:t>
            </a:r>
            <a:r>
              <a:rPr lang="en-US" sz="1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21 features</a:t>
            </a: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capturing sales activity across the United States. Key columns analysed include: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63741" y="105898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Tools &amp; Technologies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63741" y="1610246"/>
            <a:ext cx="1706091" cy="961504"/>
          </a:xfrm>
          <a:prstGeom prst="roundRect">
            <a:avLst>
              <a:gd name="adj" fmla="val 2042"/>
            </a:avLst>
          </a:prstGeom>
          <a:solidFill>
            <a:srgbClr val="F3E7D4"/>
          </a:solidFill>
          <a:ln/>
        </p:spPr>
      </p:sp>
      <p:sp>
        <p:nvSpPr>
          <p:cNvPr id="7" name="Shape 5"/>
          <p:cNvSpPr/>
          <p:nvPr/>
        </p:nvSpPr>
        <p:spPr>
          <a:xfrm>
            <a:off x="5294635" y="1741141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38512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2610" y="1849116"/>
            <a:ext cx="176659" cy="176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94635" y="2248347"/>
            <a:ext cx="144430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Python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84355" y="1610246"/>
            <a:ext cx="1706166" cy="961504"/>
          </a:xfrm>
          <a:prstGeom prst="roundRect">
            <a:avLst>
              <a:gd name="adj" fmla="val 2042"/>
            </a:avLst>
          </a:prstGeom>
          <a:solidFill>
            <a:srgbClr val="F3E7D4"/>
          </a:solidFill>
          <a:ln/>
        </p:spPr>
      </p:sp>
      <p:sp>
        <p:nvSpPr>
          <p:cNvPr id="11" name="Shape 8"/>
          <p:cNvSpPr/>
          <p:nvPr/>
        </p:nvSpPr>
        <p:spPr>
          <a:xfrm>
            <a:off x="7115249" y="1741141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38512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3224" y="1849116"/>
            <a:ext cx="176659" cy="176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15249" y="2248347"/>
            <a:ext cx="144437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Pandas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163741" y="2686274"/>
            <a:ext cx="1706091" cy="961504"/>
          </a:xfrm>
          <a:prstGeom prst="roundRect">
            <a:avLst>
              <a:gd name="adj" fmla="val 2042"/>
            </a:avLst>
          </a:prstGeom>
          <a:solidFill>
            <a:srgbClr val="F3E7D4"/>
          </a:solidFill>
          <a:ln/>
        </p:spPr>
      </p:sp>
      <p:sp>
        <p:nvSpPr>
          <p:cNvPr id="15" name="Shape 11"/>
          <p:cNvSpPr/>
          <p:nvPr/>
        </p:nvSpPr>
        <p:spPr>
          <a:xfrm>
            <a:off x="5294635" y="2817168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38512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2610" y="2925143"/>
            <a:ext cx="176659" cy="176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94635" y="3324374"/>
            <a:ext cx="144430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Jupyter Notebook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984355" y="2686274"/>
            <a:ext cx="1706166" cy="961504"/>
          </a:xfrm>
          <a:prstGeom prst="roundRect">
            <a:avLst>
              <a:gd name="adj" fmla="val 2042"/>
            </a:avLst>
          </a:prstGeom>
          <a:solidFill>
            <a:srgbClr val="F3E7D4"/>
          </a:solidFill>
          <a:ln/>
        </p:spPr>
      </p:sp>
      <p:sp>
        <p:nvSpPr>
          <p:cNvPr id="19" name="Shape 14"/>
          <p:cNvSpPr/>
          <p:nvPr/>
        </p:nvSpPr>
        <p:spPr>
          <a:xfrm>
            <a:off x="7115249" y="2817168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38512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3224" y="2925143"/>
            <a:ext cx="176659" cy="176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15249" y="3324374"/>
            <a:ext cx="144437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Power BI / Excel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69981" y="1981810"/>
            <a:ext cx="1971005" cy="720000"/>
          </a:xfrm>
          <a:prstGeom prst="roundRect">
            <a:avLst>
              <a:gd name="adj" fmla="val 4067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275483" y="2245556"/>
            <a:ext cx="36000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Sales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2549667" y="1981810"/>
            <a:ext cx="1971005" cy="720000"/>
          </a:xfrm>
          <a:prstGeom prst="roundRect">
            <a:avLst>
              <a:gd name="adj" fmla="val 4067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337169" y="2245556"/>
            <a:ext cx="39600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Profit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77978" y="2817805"/>
            <a:ext cx="1971005" cy="720000"/>
          </a:xfrm>
          <a:prstGeom prst="roundRect">
            <a:avLst>
              <a:gd name="adj" fmla="val 4067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139480" y="3081551"/>
            <a:ext cx="64800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Category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2563507" y="2817805"/>
            <a:ext cx="1971080" cy="720000"/>
          </a:xfrm>
          <a:prstGeom prst="roundRect">
            <a:avLst>
              <a:gd name="adj" fmla="val 4067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297047" y="3081551"/>
            <a:ext cx="50400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Region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8167" y="3665102"/>
            <a:ext cx="1966317" cy="720000"/>
          </a:xfrm>
          <a:prstGeom prst="roundRect">
            <a:avLst>
              <a:gd name="adj" fmla="val 4067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135325" y="3928848"/>
            <a:ext cx="61200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Segment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2563507" y="3653800"/>
            <a:ext cx="1957165" cy="720000"/>
          </a:xfrm>
          <a:prstGeom prst="roundRect">
            <a:avLst>
              <a:gd name="adj" fmla="val 4067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038089" y="3917546"/>
            <a:ext cx="100800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Product Name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4">
            <a:extLst>
              <a:ext uri="{FF2B5EF4-FFF2-40B4-BE49-F238E27FC236}">
                <a16:creationId xmlns:a16="http://schemas.microsoft.com/office/drawing/2014/main" id="{AB51A69D-9F30-5472-3292-DA3BA2A6A6DB}"/>
              </a:ext>
            </a:extLst>
          </p:cNvPr>
          <p:cNvSpPr/>
          <p:nvPr/>
        </p:nvSpPr>
        <p:spPr>
          <a:xfrm>
            <a:off x="5697559" y="3734106"/>
            <a:ext cx="1836000" cy="1080000"/>
          </a:xfrm>
          <a:prstGeom prst="roundRect">
            <a:avLst>
              <a:gd name="adj" fmla="val 2042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72F35CB1-0686-1927-F8BE-95E4FD1CF997}"/>
              </a:ext>
            </a:extLst>
          </p:cNvPr>
          <p:cNvSpPr/>
          <p:nvPr/>
        </p:nvSpPr>
        <p:spPr>
          <a:xfrm>
            <a:off x="5697559" y="2492079"/>
            <a:ext cx="1836000" cy="1080000"/>
          </a:xfrm>
          <a:prstGeom prst="roundRect">
            <a:avLst>
              <a:gd name="adj" fmla="val 2042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CEB8564E-8379-B69F-B3AF-FE047E4644E4}"/>
              </a:ext>
            </a:extLst>
          </p:cNvPr>
          <p:cNvSpPr/>
          <p:nvPr/>
        </p:nvSpPr>
        <p:spPr>
          <a:xfrm>
            <a:off x="1619384" y="1271364"/>
            <a:ext cx="1836000" cy="1080000"/>
          </a:xfrm>
          <a:prstGeom prst="roundRect">
            <a:avLst>
              <a:gd name="adj" fmla="val 2042"/>
            </a:avLst>
          </a:prstGeom>
          <a:solidFill>
            <a:srgbClr val="F3E7D4"/>
          </a:solidFill>
          <a:ln/>
        </p:spPr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0C52A0EC-08DA-5250-F751-669ADBA0C493}"/>
              </a:ext>
            </a:extLst>
          </p:cNvPr>
          <p:cNvSpPr/>
          <p:nvPr/>
        </p:nvSpPr>
        <p:spPr>
          <a:xfrm>
            <a:off x="1619384" y="3734106"/>
            <a:ext cx="1836000" cy="1080000"/>
          </a:xfrm>
          <a:prstGeom prst="roundRect">
            <a:avLst>
              <a:gd name="adj" fmla="val 2042"/>
            </a:avLst>
          </a:prstGeom>
          <a:solidFill>
            <a:srgbClr val="F3E7D4"/>
          </a:solidFill>
          <a:ln/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0F90102-B96B-D76F-815B-93B50BAB59AB}"/>
              </a:ext>
            </a:extLst>
          </p:cNvPr>
          <p:cNvSpPr/>
          <p:nvPr/>
        </p:nvSpPr>
        <p:spPr>
          <a:xfrm>
            <a:off x="1619384" y="2492079"/>
            <a:ext cx="1836000" cy="1080000"/>
          </a:xfrm>
          <a:prstGeom prst="roundRect">
            <a:avLst>
              <a:gd name="adj" fmla="val 2042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DE34A69D-DF89-C432-B727-ADA97CDF4080}"/>
              </a:ext>
            </a:extLst>
          </p:cNvPr>
          <p:cNvSpPr/>
          <p:nvPr/>
        </p:nvSpPr>
        <p:spPr>
          <a:xfrm>
            <a:off x="5697559" y="1234750"/>
            <a:ext cx="1836000" cy="1080000"/>
          </a:xfrm>
          <a:prstGeom prst="roundRect">
            <a:avLst>
              <a:gd name="adj" fmla="val 2042"/>
            </a:avLst>
          </a:prstGeom>
          <a:solidFill>
            <a:srgbClr val="F3E7D4"/>
          </a:solidFill>
          <a:ln/>
        </p:spPr>
      </p:sp>
      <p:sp>
        <p:nvSpPr>
          <p:cNvPr id="2" name="Text 0"/>
          <p:cNvSpPr/>
          <p:nvPr/>
        </p:nvSpPr>
        <p:spPr>
          <a:xfrm>
            <a:off x="548953" y="381744"/>
            <a:ext cx="3785518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Key Performance Indicators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48953" y="951309"/>
            <a:ext cx="80460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snapshot of overall business performance derived from the Superstore dataset.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953" y="1309836"/>
            <a:ext cx="3958903" cy="40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$2.3M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99555" y="1857524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Total Sales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953" y="2101230"/>
            <a:ext cx="395890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Across all regions and segments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36071" y="1309836"/>
            <a:ext cx="3958977" cy="40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$286K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886748" y="1857524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Total Profit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36071" y="2101230"/>
            <a:ext cx="395897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 profit across all transactions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953" y="2549500"/>
            <a:ext cx="3958903" cy="40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12.5%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99555" y="3097188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Profit Margin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953" y="3340894"/>
            <a:ext cx="395890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Overall average margin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36071" y="2549500"/>
            <a:ext cx="3958977" cy="40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#1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886748" y="3097188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Top Category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6071" y="3340894"/>
            <a:ext cx="395897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953" y="3789164"/>
            <a:ext cx="3958903" cy="40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#1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799555" y="4336852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Top Region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953" y="4580558"/>
            <a:ext cx="395890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36071" y="3789164"/>
            <a:ext cx="3958977" cy="40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#1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886748" y="4336852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Top Segment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71" y="4580558"/>
            <a:ext cx="395897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Consumer</a:t>
            </a:r>
            <a:endParaRPr lang="en-US" sz="950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4">
            <a:extLst>
              <a:ext uri="{FF2B5EF4-FFF2-40B4-BE49-F238E27FC236}">
                <a16:creationId xmlns:a16="http://schemas.microsoft.com/office/drawing/2014/main" id="{EB56F2A9-8565-4FB6-3D1B-0EAC2ABABFDF}"/>
              </a:ext>
            </a:extLst>
          </p:cNvPr>
          <p:cNvSpPr/>
          <p:nvPr/>
        </p:nvSpPr>
        <p:spPr>
          <a:xfrm>
            <a:off x="414619" y="1458859"/>
            <a:ext cx="4028186" cy="2363122"/>
          </a:xfrm>
          <a:prstGeom prst="roundRect">
            <a:avLst>
              <a:gd name="adj" fmla="val 2042"/>
            </a:avLst>
          </a:prstGeom>
          <a:solidFill>
            <a:schemeClr val="bg2"/>
          </a:solidFill>
          <a:ln/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6B259033-21E1-1F49-ABA2-388DAD72A3A4}"/>
              </a:ext>
            </a:extLst>
          </p:cNvPr>
          <p:cNvSpPr/>
          <p:nvPr/>
        </p:nvSpPr>
        <p:spPr>
          <a:xfrm>
            <a:off x="4606155" y="1458859"/>
            <a:ext cx="4123225" cy="2363122"/>
          </a:xfrm>
          <a:prstGeom prst="roundRect">
            <a:avLst>
              <a:gd name="adj" fmla="val 204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474538" y="394543"/>
            <a:ext cx="319020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Sales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4538" y="1038969"/>
            <a:ext cx="819492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 leads all categories in revenue, while the West region drives the highest geographical contribution to total sales.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bright="16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4538" y="1522065"/>
            <a:ext cx="3932113" cy="22088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937635" y="1889571"/>
            <a:ext cx="149648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Arial" panose="020B0604020202020204" pitchFamily="34" charset="0"/>
                <a:ea typeface="-apple-system, BlinkMacSystemFont, Segoe UI, Roboto, Helvetica Neue, Arial, sans-serif Medium" pitchFamily="34" charset="-122"/>
                <a:cs typeface="Arial" panose="020B0604020202020204" pitchFamily="34" charset="0"/>
              </a:rPr>
              <a:t>836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3590925" y="2538859"/>
            <a:ext cx="14587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anose="020B0604020202020204" pitchFamily="34" charset="0"/>
                <a:ea typeface="-apple-system, BlinkMacSystemFont, Segoe UI, Roboto, Helvetica Neue, Arial, sans-serif Medium" pitchFamily="34" charset="-122"/>
                <a:cs typeface="Arial" panose="020B0604020202020204" pitchFamily="34" charset="0"/>
              </a:rPr>
              <a:t>742</a:t>
            </a:r>
            <a:endParaRPr lang="en-US" sz="400" dirty="0"/>
          </a:p>
        </p:txBody>
      </p:sp>
      <p:sp>
        <p:nvSpPr>
          <p:cNvPr id="7" name="Text 4"/>
          <p:cNvSpPr/>
          <p:nvPr/>
        </p:nvSpPr>
        <p:spPr>
          <a:xfrm>
            <a:off x="3508977" y="3188147"/>
            <a:ext cx="14587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anose="020B0604020202020204" pitchFamily="34" charset="0"/>
                <a:ea typeface="-apple-system, BlinkMacSystemFont, Segoe UI, Roboto, Helvetica Neue, Arial, sans-serif Medium" pitchFamily="34" charset="-122"/>
                <a:cs typeface="Arial" panose="020B0604020202020204" pitchFamily="34" charset="0"/>
              </a:rPr>
              <a:t>719</a:t>
            </a:r>
            <a:endParaRPr lang="en-US" sz="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42111" y="1522065"/>
            <a:ext cx="3932113" cy="22088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8115300" y="1808411"/>
            <a:ext cx="145443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Arial" panose="020B0604020202020204" pitchFamily="34" charset="0"/>
                <a:ea typeface="-apple-system, BlinkMacSystemFont, Segoe UI, Roboto, Helvetica Neue, Arial, sans-serif Medium" pitchFamily="34" charset="-122"/>
                <a:cs typeface="Arial" panose="020B0604020202020204" pitchFamily="34" charset="0"/>
              </a:rPr>
              <a:t>725</a:t>
            </a:r>
            <a:endParaRPr lang="en-US" sz="400" dirty="0"/>
          </a:p>
        </p:txBody>
      </p:sp>
      <p:sp>
        <p:nvSpPr>
          <p:cNvPr id="10" name="Text 6"/>
          <p:cNvSpPr/>
          <p:nvPr/>
        </p:nvSpPr>
        <p:spPr>
          <a:xfrm>
            <a:off x="7911465" y="2295376"/>
            <a:ext cx="137287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Arial" panose="020B0604020202020204" pitchFamily="34" charset="0"/>
                <a:ea typeface="-apple-system, BlinkMacSystemFont, Segoe UI, Roboto, Helvetica Neue, Arial, sans-serif Medium" pitchFamily="34" charset="-122"/>
                <a:cs typeface="Arial" panose="020B0604020202020204" pitchFamily="34" charset="0"/>
              </a:rPr>
              <a:t>678</a:t>
            </a:r>
            <a:endParaRPr lang="en-US" sz="400" dirty="0"/>
          </a:p>
        </p:txBody>
      </p:sp>
      <p:sp>
        <p:nvSpPr>
          <p:cNvPr id="11" name="Text 7"/>
          <p:cNvSpPr/>
          <p:nvPr/>
        </p:nvSpPr>
        <p:spPr>
          <a:xfrm>
            <a:off x="7115175" y="2782342"/>
            <a:ext cx="142049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anose="020B0604020202020204" pitchFamily="34" charset="0"/>
                <a:ea typeface="-apple-system, BlinkMacSystemFont, Segoe UI, Roboto, Helvetica Neue, Arial, sans-serif Medium" pitchFamily="34" charset="-122"/>
                <a:cs typeface="Arial" panose="020B0604020202020204" pitchFamily="34" charset="0"/>
              </a:rPr>
              <a:t>501</a:t>
            </a:r>
            <a:endParaRPr lang="en-US" sz="400" dirty="0"/>
          </a:p>
        </p:txBody>
      </p:sp>
      <p:sp>
        <p:nvSpPr>
          <p:cNvPr id="12" name="Text 8"/>
          <p:cNvSpPr/>
          <p:nvPr/>
        </p:nvSpPr>
        <p:spPr>
          <a:xfrm>
            <a:off x="6602730" y="3269307"/>
            <a:ext cx="159938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anose="020B0604020202020204" pitchFamily="34" charset="0"/>
                <a:ea typeface="-apple-system, BlinkMacSystemFont, Segoe UI, Roboto, Helvetica Neue, Arial, sans-serif Medium" pitchFamily="34" charset="-122"/>
                <a:cs typeface="Arial" panose="020B0604020202020204" pitchFamily="34" charset="0"/>
              </a:rPr>
              <a:t>391</a:t>
            </a:r>
            <a:endParaRPr lang="en-US" sz="400" dirty="0"/>
          </a:p>
        </p:txBody>
      </p:sp>
      <p:sp>
        <p:nvSpPr>
          <p:cNvPr id="13" name="Shape 9"/>
          <p:cNvSpPr/>
          <p:nvPr/>
        </p:nvSpPr>
        <p:spPr>
          <a:xfrm>
            <a:off x="474538" y="4000351"/>
            <a:ext cx="8194923" cy="748531"/>
          </a:xfrm>
          <a:prstGeom prst="roundRect">
            <a:avLst>
              <a:gd name="adj" fmla="val 2717"/>
            </a:avLst>
          </a:prstGeom>
          <a:solidFill>
            <a:srgbClr val="B6FCB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121" y="4193977"/>
            <a:ext cx="169441" cy="1355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5144" y="4157067"/>
            <a:ext cx="7618735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Insight:</a:t>
            </a: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Technology accounts for ~36% of total sales. The West region alone contributes nearly 32% of overall revenue — making it the most strategically valuable geography.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4">
            <a:extLst>
              <a:ext uri="{FF2B5EF4-FFF2-40B4-BE49-F238E27FC236}">
                <a16:creationId xmlns:a16="http://schemas.microsoft.com/office/drawing/2014/main" id="{024C7B17-A72B-E525-6084-C86EA5D1FE55}"/>
              </a:ext>
            </a:extLst>
          </p:cNvPr>
          <p:cNvSpPr/>
          <p:nvPr/>
        </p:nvSpPr>
        <p:spPr>
          <a:xfrm>
            <a:off x="434501" y="1847672"/>
            <a:ext cx="4028186" cy="2363122"/>
          </a:xfrm>
          <a:prstGeom prst="roundRect">
            <a:avLst>
              <a:gd name="adj" fmla="val 2042"/>
            </a:avLst>
          </a:prstGeom>
          <a:solidFill>
            <a:schemeClr val="bg2"/>
          </a:solidFill>
          <a:ln/>
        </p:spPr>
      </p:sp>
      <p:sp>
        <p:nvSpPr>
          <p:cNvPr id="2" name="Text 0"/>
          <p:cNvSpPr/>
          <p:nvPr/>
        </p:nvSpPr>
        <p:spPr>
          <a:xfrm>
            <a:off x="499095" y="419249"/>
            <a:ext cx="3355256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Profit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9095" y="1110407"/>
            <a:ext cx="8145810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Whilst Technology generates both high sales and strong profits, Furniture trails significantly — highlighting a margin problem that warrants strategic intervention.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9095" y="1861542"/>
            <a:ext cx="3898999" cy="23232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106805" y="2157115"/>
            <a:ext cx="14498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Arial" panose="020B0604020202020204" pitchFamily="34" charset="0"/>
                <a:ea typeface="-apple-system, BlinkMacSystemFont, Segoe UI, Roboto, Helvetica Neue, Arial, sans-serif Medium" pitchFamily="34" charset="-122"/>
                <a:cs typeface="Arial" panose="020B0604020202020204" pitchFamily="34" charset="0"/>
              </a:rPr>
              <a:t>145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2333625" y="2446020"/>
            <a:ext cx="139266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anose="020B0604020202020204" pitchFamily="34" charset="0"/>
                <a:ea typeface="-apple-system, BlinkMacSystemFont, Segoe UI, Roboto, Helvetica Neue, Arial, sans-serif Medium" pitchFamily="34" charset="-122"/>
                <a:cs typeface="Arial" panose="020B0604020202020204" pitchFamily="34" charset="0"/>
              </a:rPr>
              <a:t>122</a:t>
            </a:r>
            <a:endParaRPr lang="en-US" sz="400" dirty="0"/>
          </a:p>
        </p:txBody>
      </p:sp>
      <p:sp>
        <p:nvSpPr>
          <p:cNvPr id="7" name="Text 4"/>
          <p:cNvSpPr/>
          <p:nvPr/>
        </p:nvSpPr>
        <p:spPr>
          <a:xfrm>
            <a:off x="3590926" y="3752374"/>
            <a:ext cx="105222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anose="020B0604020202020204" pitchFamily="34" charset="0"/>
                <a:ea typeface="-apple-system, BlinkMacSystemFont, Segoe UI, Roboto, Helvetica Neue, Arial, sans-serif Medium" pitchFamily="34" charset="-122"/>
                <a:cs typeface="Arial" panose="020B0604020202020204" pitchFamily="34" charset="0"/>
              </a:rPr>
              <a:t>18</a:t>
            </a:r>
            <a:endParaRPr lang="en-US" sz="400" dirty="0"/>
          </a:p>
        </p:txBody>
      </p:sp>
      <p:sp>
        <p:nvSpPr>
          <p:cNvPr id="8" name="Text 5"/>
          <p:cNvSpPr/>
          <p:nvPr/>
        </p:nvSpPr>
        <p:spPr>
          <a:xfrm>
            <a:off x="4750668" y="1844576"/>
            <a:ext cx="2907283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Sub-Category Profitability Highlights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0668" y="2207047"/>
            <a:ext cx="1881560" cy="1114202"/>
          </a:xfrm>
          <a:prstGeom prst="roundRect">
            <a:avLst>
              <a:gd name="adj" fmla="val 8207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1618" y="2207047"/>
            <a:ext cx="76200" cy="1114202"/>
          </a:xfrm>
          <a:prstGeom prst="roundRect">
            <a:avLst>
              <a:gd name="adj" fmla="val 28071"/>
            </a:avLst>
          </a:prstGeom>
          <a:solidFill>
            <a:srgbClr val="38512F"/>
          </a:solidFill>
          <a:ln/>
        </p:spPr>
      </p:sp>
      <p:sp>
        <p:nvSpPr>
          <p:cNvPr id="11" name="Text 8"/>
          <p:cNvSpPr/>
          <p:nvPr/>
        </p:nvSpPr>
        <p:spPr>
          <a:xfrm>
            <a:off x="4969446" y="2368674"/>
            <a:ext cx="1501155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🏆</a:t>
            </a:r>
            <a:r>
              <a:rPr lang="en-US" sz="13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 Copiers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69446" y="2714179"/>
            <a:ext cx="150115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sub-category profit margin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68108" y="2207047"/>
            <a:ext cx="1881560" cy="1114202"/>
          </a:xfrm>
          <a:prstGeom prst="roundRect">
            <a:avLst>
              <a:gd name="adj" fmla="val 8207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49058" y="2207047"/>
            <a:ext cx="76200" cy="1114202"/>
          </a:xfrm>
          <a:prstGeom prst="roundRect">
            <a:avLst>
              <a:gd name="adj" fmla="val 28071"/>
            </a:avLst>
          </a:prstGeom>
          <a:solidFill>
            <a:srgbClr val="38512F"/>
          </a:solidFill>
          <a:ln/>
        </p:spPr>
      </p:sp>
      <p:sp>
        <p:nvSpPr>
          <p:cNvPr id="15" name="Text 12"/>
          <p:cNvSpPr/>
          <p:nvPr/>
        </p:nvSpPr>
        <p:spPr>
          <a:xfrm>
            <a:off x="6986885" y="2368674"/>
            <a:ext cx="1501155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📱</a:t>
            </a:r>
            <a:r>
              <a:rPr lang="en-US" sz="13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 Phones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86885" y="2714179"/>
            <a:ext cx="150115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 sales with healthy margin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0668" y="3457129"/>
            <a:ext cx="1881560" cy="1114202"/>
          </a:xfrm>
          <a:prstGeom prst="roundRect">
            <a:avLst>
              <a:gd name="adj" fmla="val 8207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31618" y="3457129"/>
            <a:ext cx="76200" cy="1114202"/>
          </a:xfrm>
          <a:prstGeom prst="roundRect">
            <a:avLst>
              <a:gd name="adj" fmla="val 28071"/>
            </a:avLst>
          </a:prstGeom>
          <a:solidFill>
            <a:srgbClr val="38512F"/>
          </a:solidFill>
          <a:ln/>
        </p:spPr>
      </p:sp>
      <p:sp>
        <p:nvSpPr>
          <p:cNvPr id="19" name="Text 16"/>
          <p:cNvSpPr/>
          <p:nvPr/>
        </p:nvSpPr>
        <p:spPr>
          <a:xfrm>
            <a:off x="4969446" y="3618756"/>
            <a:ext cx="1501155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🪑</a:t>
            </a:r>
            <a:r>
              <a:rPr lang="en-US" sz="13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 Tables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69446" y="3964260"/>
            <a:ext cx="150115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Negative profit — high discount pressure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68108" y="3457129"/>
            <a:ext cx="1881560" cy="1114202"/>
          </a:xfrm>
          <a:prstGeom prst="roundRect">
            <a:avLst>
              <a:gd name="adj" fmla="val 8207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49058" y="3457129"/>
            <a:ext cx="76200" cy="1114202"/>
          </a:xfrm>
          <a:prstGeom prst="roundRect">
            <a:avLst>
              <a:gd name="adj" fmla="val 28071"/>
            </a:avLst>
          </a:prstGeom>
          <a:solidFill>
            <a:srgbClr val="38512F"/>
          </a:solidFill>
          <a:ln/>
        </p:spPr>
      </p:sp>
      <p:sp>
        <p:nvSpPr>
          <p:cNvPr id="23" name="Text 20"/>
          <p:cNvSpPr/>
          <p:nvPr/>
        </p:nvSpPr>
        <p:spPr>
          <a:xfrm>
            <a:off x="6986885" y="3618756"/>
            <a:ext cx="1501155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📦</a:t>
            </a:r>
            <a:r>
              <a:rPr lang="en-US" sz="13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 Bookcases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86885" y="3964260"/>
            <a:ext cx="150115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 profitability despite decent volume</a:t>
            </a:r>
            <a:endParaRPr lang="en-US" sz="1100" dirty="0"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53" y="387325"/>
            <a:ext cx="4233937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Customer &amp; Product Insights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66353" y="1075804"/>
            <a:ext cx="22294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Segment Contribution to Sales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6353" y="1452860"/>
            <a:ext cx="4037067" cy="2123926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1937EB55-4150-188D-43B2-06C8599B977D}"/>
              </a:ext>
            </a:extLst>
          </p:cNvPr>
          <p:cNvGrpSpPr/>
          <p:nvPr/>
        </p:nvGrpSpPr>
        <p:grpSpPr>
          <a:xfrm>
            <a:off x="1288334" y="3755094"/>
            <a:ext cx="1691085" cy="900186"/>
            <a:chOff x="3380009" y="2041611"/>
            <a:chExt cx="936000" cy="536048"/>
          </a:xfrm>
        </p:grpSpPr>
        <p:sp>
          <p:nvSpPr>
            <p:cNvPr id="5" name="Shape 2"/>
            <p:cNvSpPr/>
            <p:nvPr/>
          </p:nvSpPr>
          <p:spPr>
            <a:xfrm>
              <a:off x="3380009" y="2041611"/>
              <a:ext cx="936000" cy="144000"/>
            </a:xfrm>
            <a:prstGeom prst="roundRect">
              <a:avLst>
                <a:gd name="adj" fmla="val 77800"/>
              </a:avLst>
            </a:prstGeom>
            <a:solidFill>
              <a:srgbClr val="FFFFFF">
                <a:alpha val="20000"/>
              </a:srgbClr>
            </a:solidFill>
            <a:ln w="4763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IN" sz="2400" dirty="0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05247" y="2061936"/>
              <a:ext cx="108000" cy="108000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3534492" y="2080202"/>
              <a:ext cx="532656" cy="742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0"/>
                </a:lnSpc>
                <a:buNone/>
              </a:pPr>
              <a:r>
                <a:rPr lang="en-US" sz="700" dirty="0">
                  <a:solidFill>
                    <a:srgbClr val="3A3630"/>
                  </a:solidFill>
                  <a:latin typeface="Arial" panose="020B0604020202020204" pitchFamily="34" charset="0"/>
                  <a:ea typeface="-apple-system, BlinkMacSystemFont, Segoe UI, Roboto, Helvetica Neue, Arial, sans-serif Medium" pitchFamily="34" charset="-122"/>
                  <a:cs typeface="Arial" panose="020B0604020202020204" pitchFamily="34" charset="0"/>
                </a:rPr>
                <a:t>Consumer: 50.54%</a:t>
              </a:r>
              <a:endParaRPr lang="en-US" sz="7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3797546" y="2188475"/>
              <a:ext cx="15329" cy="742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0"/>
                </a:lnSpc>
                <a:buNone/>
              </a:pPr>
              <a:endParaRPr lang="en-US" sz="70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3380009" y="2235662"/>
              <a:ext cx="936000" cy="144000"/>
            </a:xfrm>
            <a:prstGeom prst="roundRect">
              <a:avLst>
                <a:gd name="adj" fmla="val 77800"/>
              </a:avLst>
            </a:prstGeom>
            <a:solidFill>
              <a:srgbClr val="FFFFFF">
                <a:alpha val="20000"/>
              </a:srgbClr>
            </a:solidFill>
            <a:ln w="4763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13346" y="2250934"/>
              <a:ext cx="108000" cy="108000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3534492" y="2270529"/>
              <a:ext cx="526107" cy="742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0"/>
                </a:lnSpc>
                <a:buNone/>
              </a:pPr>
              <a:r>
                <a:rPr lang="en-US" sz="700" dirty="0">
                  <a:solidFill>
                    <a:srgbClr val="3A3630"/>
                  </a:solidFill>
                  <a:latin typeface="Arial" panose="020B0604020202020204" pitchFamily="34" charset="0"/>
                  <a:ea typeface="-apple-system, BlinkMacSystemFont, Segoe UI, Roboto, Helvetica Neue, Arial, sans-serif Medium" pitchFamily="34" charset="-122"/>
                  <a:cs typeface="Arial" panose="020B0604020202020204" pitchFamily="34" charset="0"/>
                </a:rPr>
                <a:t>Corporate: 30.74%</a:t>
              </a:r>
              <a:endParaRPr lang="en-US" sz="70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3790998" y="2329415"/>
              <a:ext cx="15329" cy="742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0"/>
                </a:lnSpc>
                <a:buNone/>
              </a:pPr>
              <a:endParaRPr lang="en-US" sz="700" dirty="0"/>
            </a:p>
          </p:txBody>
        </p:sp>
        <p:sp>
          <p:nvSpPr>
            <p:cNvPr id="15" name="Shape 10"/>
            <p:cNvSpPr/>
            <p:nvPr/>
          </p:nvSpPr>
          <p:spPr>
            <a:xfrm>
              <a:off x="3380009" y="2433659"/>
              <a:ext cx="936000" cy="144000"/>
            </a:xfrm>
            <a:prstGeom prst="roundRect">
              <a:avLst>
                <a:gd name="adj" fmla="val 77800"/>
              </a:avLst>
            </a:prstGeom>
            <a:solidFill>
              <a:srgbClr val="FFFFFF">
                <a:alpha val="20000"/>
              </a:srgbClr>
            </a:solidFill>
            <a:ln w="4763">
              <a:solidFill>
                <a:srgbClr val="000000"/>
              </a:solidFill>
              <a:prstDash val="solid"/>
            </a:ln>
          </p:spPr>
        </p:sp>
        <p:pic>
          <p:nvPicPr>
            <p:cNvPr id="16" name="Image 3" descr="preencoded.png"/>
            <p:cNvPicPr>
              <a:picLocks noChangeAspect="1"/>
            </p:cNvPicPr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13346" y="2453488"/>
              <a:ext cx="108000" cy="108000"/>
            </a:xfrm>
            <a:prstGeom prst="rect">
              <a:avLst/>
            </a:prstGeom>
          </p:spPr>
        </p:pic>
        <p:sp>
          <p:nvSpPr>
            <p:cNvPr id="17" name="Text 11"/>
            <p:cNvSpPr/>
            <p:nvPr/>
          </p:nvSpPr>
          <p:spPr>
            <a:xfrm>
              <a:off x="3534492" y="2470356"/>
              <a:ext cx="590476" cy="742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0"/>
                </a:lnSpc>
                <a:buNone/>
              </a:pPr>
              <a:r>
                <a:rPr lang="en-US" sz="700" dirty="0">
                  <a:solidFill>
                    <a:srgbClr val="3A3630"/>
                  </a:solidFill>
                  <a:latin typeface="Arial" panose="020B0604020202020204" pitchFamily="34" charset="0"/>
                  <a:ea typeface="-apple-system, BlinkMacSystemFont, Segoe UI, Roboto, Helvetica Neue, Arial, sans-serif Medium" pitchFamily="34" charset="-122"/>
                  <a:cs typeface="Arial" panose="020B0604020202020204" pitchFamily="34" charset="0"/>
                </a:rPr>
                <a:t>Home Office: 18.72%</a:t>
              </a:r>
              <a:endParaRPr lang="en-US" sz="700" dirty="0"/>
            </a:p>
          </p:txBody>
        </p:sp>
        <p:sp>
          <p:nvSpPr>
            <p:cNvPr id="19" name="Text 13"/>
            <p:cNvSpPr/>
            <p:nvPr/>
          </p:nvSpPr>
          <p:spPr>
            <a:xfrm>
              <a:off x="3855366" y="2470356"/>
              <a:ext cx="15329" cy="742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0"/>
                </a:lnSpc>
                <a:buNone/>
              </a:pPr>
              <a:endParaRPr lang="en-US" sz="700" dirty="0"/>
            </a:p>
          </p:txBody>
        </p:sp>
      </p:grpSp>
      <p:sp>
        <p:nvSpPr>
          <p:cNvPr id="20" name="Text 14"/>
          <p:cNvSpPr/>
          <p:nvPr/>
        </p:nvSpPr>
        <p:spPr>
          <a:xfrm>
            <a:off x="4739283" y="1075804"/>
            <a:ext cx="1873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Top-Performing Products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739283" y="1390352"/>
            <a:ext cx="3943127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sub-categories consistently rank highest in both revenue and volume across all regions:</a:t>
            </a:r>
            <a:endParaRPr lang="en-US" sz="10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3C4F920-3A2A-FC36-E36D-67FC6BA8FB94}"/>
              </a:ext>
            </a:extLst>
          </p:cNvPr>
          <p:cNvGrpSpPr/>
          <p:nvPr/>
        </p:nvGrpSpPr>
        <p:grpSpPr>
          <a:xfrm>
            <a:off x="4739283" y="2002164"/>
            <a:ext cx="2657996" cy="775915"/>
            <a:chOff x="466353" y="3880321"/>
            <a:chExt cx="2657996" cy="775915"/>
          </a:xfrm>
        </p:grpSpPr>
        <p:sp>
          <p:nvSpPr>
            <p:cNvPr id="22" name="Text 16"/>
            <p:cNvSpPr/>
            <p:nvPr/>
          </p:nvSpPr>
          <p:spPr>
            <a:xfrm>
              <a:off x="466353" y="3880321"/>
              <a:ext cx="266477" cy="1665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000" dirty="0">
                  <a:solidFill>
                    <a:srgbClr val="3A3630"/>
                  </a:solidFill>
                  <a:latin typeface="Poppins Light" panose="020B0502040204020203" pitchFamily="2" charset="0"/>
                  <a:ea typeface="Lora Light" pitchFamily="34" charset="-122"/>
                  <a:cs typeface="Poppins Light" panose="020B0502040204020203" pitchFamily="2" charset="0"/>
                </a:rPr>
                <a:t>01</a:t>
              </a:r>
              <a:endParaRPr lang="en-US" sz="1000" dirty="0"/>
            </a:p>
          </p:txBody>
        </p:sp>
        <p:sp>
          <p:nvSpPr>
            <p:cNvPr id="23" name="Shape 17"/>
            <p:cNvSpPr/>
            <p:nvPr/>
          </p:nvSpPr>
          <p:spPr>
            <a:xfrm>
              <a:off x="466353" y="4092476"/>
              <a:ext cx="2657996" cy="14288"/>
            </a:xfrm>
            <a:prstGeom prst="rect">
              <a:avLst/>
            </a:prstGeom>
            <a:solidFill>
              <a:srgbClr val="38512F"/>
            </a:solidFill>
            <a:ln/>
          </p:spPr>
        </p:sp>
        <p:sp>
          <p:nvSpPr>
            <p:cNvPr id="24" name="Text 18"/>
            <p:cNvSpPr/>
            <p:nvPr/>
          </p:nvSpPr>
          <p:spPr>
            <a:xfrm>
              <a:off x="466353" y="4187651"/>
              <a:ext cx="1567607" cy="1959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3A3630"/>
                  </a:solidFill>
                  <a:latin typeface="Poppins" panose="020B0502040204020203" pitchFamily="2" charset="0"/>
                  <a:ea typeface="Lora" pitchFamily="34" charset="-122"/>
                  <a:cs typeface="Poppins" panose="020B0502040204020203" pitchFamily="2" charset="0"/>
                </a:rPr>
                <a:t>Phones</a:t>
              </a:r>
              <a:endParaRPr lang="en-US" sz="1200" dirty="0"/>
            </a:p>
          </p:txBody>
        </p:sp>
        <p:sp>
          <p:nvSpPr>
            <p:cNvPr id="25" name="Text 19"/>
            <p:cNvSpPr/>
            <p:nvPr/>
          </p:nvSpPr>
          <p:spPr>
            <a:xfrm>
              <a:off x="466353" y="4454723"/>
              <a:ext cx="2657996" cy="2015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000" dirty="0">
                  <a:solidFill>
                    <a:srgbClr val="3A363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Highest-grossing sub-category in Technology</a:t>
              </a:r>
              <a:endParaRPr lang="en-US" sz="10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89F48D4-9486-C600-B686-D666CB5D8149}"/>
              </a:ext>
            </a:extLst>
          </p:cNvPr>
          <p:cNvGrpSpPr/>
          <p:nvPr/>
        </p:nvGrpSpPr>
        <p:grpSpPr>
          <a:xfrm>
            <a:off x="4739283" y="2952311"/>
            <a:ext cx="2657996" cy="775915"/>
            <a:chOff x="3242965" y="3880321"/>
            <a:chExt cx="2657996" cy="775915"/>
          </a:xfrm>
        </p:grpSpPr>
        <p:sp>
          <p:nvSpPr>
            <p:cNvPr id="26" name="Text 20"/>
            <p:cNvSpPr/>
            <p:nvPr/>
          </p:nvSpPr>
          <p:spPr>
            <a:xfrm>
              <a:off x="3242965" y="3880321"/>
              <a:ext cx="266477" cy="1665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000" dirty="0">
                  <a:solidFill>
                    <a:srgbClr val="3A3630"/>
                  </a:solidFill>
                  <a:latin typeface="Poppins Light" panose="020B0502040204020203" pitchFamily="2" charset="0"/>
                  <a:ea typeface="Lora Light" pitchFamily="34" charset="-122"/>
                  <a:cs typeface="Poppins Light" panose="020B0502040204020203" pitchFamily="2" charset="0"/>
                </a:rPr>
                <a:t>02</a:t>
              </a:r>
              <a:endParaRPr lang="en-US" sz="1000" dirty="0"/>
            </a:p>
          </p:txBody>
        </p:sp>
        <p:sp>
          <p:nvSpPr>
            <p:cNvPr id="27" name="Shape 21"/>
            <p:cNvSpPr/>
            <p:nvPr/>
          </p:nvSpPr>
          <p:spPr>
            <a:xfrm>
              <a:off x="3242965" y="4092476"/>
              <a:ext cx="2657996" cy="14288"/>
            </a:xfrm>
            <a:prstGeom prst="rect">
              <a:avLst/>
            </a:prstGeom>
            <a:solidFill>
              <a:srgbClr val="38512F"/>
            </a:solidFill>
            <a:ln/>
          </p:spPr>
        </p:sp>
        <p:sp>
          <p:nvSpPr>
            <p:cNvPr id="28" name="Text 22"/>
            <p:cNvSpPr/>
            <p:nvPr/>
          </p:nvSpPr>
          <p:spPr>
            <a:xfrm>
              <a:off x="3242965" y="4187651"/>
              <a:ext cx="1567607" cy="1959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3A3630"/>
                  </a:solidFill>
                  <a:latin typeface="Poppins" panose="020B0502040204020203" pitchFamily="2" charset="0"/>
                  <a:ea typeface="Lora" pitchFamily="34" charset="-122"/>
                  <a:cs typeface="Poppins" panose="020B0502040204020203" pitchFamily="2" charset="0"/>
                </a:rPr>
                <a:t>Chairs</a:t>
              </a:r>
              <a:endParaRPr lang="en-US" sz="1200" dirty="0"/>
            </a:p>
          </p:txBody>
        </p:sp>
        <p:sp>
          <p:nvSpPr>
            <p:cNvPr id="29" name="Text 23"/>
            <p:cNvSpPr/>
            <p:nvPr/>
          </p:nvSpPr>
          <p:spPr>
            <a:xfrm>
              <a:off x="3242965" y="4454723"/>
              <a:ext cx="2657996" cy="2015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000" dirty="0">
                  <a:solidFill>
                    <a:srgbClr val="3A363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Top performer within the Furniture category</a:t>
              </a:r>
              <a:endParaRPr lang="en-US" sz="10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B59E0DE-EDF6-3B23-5BFF-B4609B69EADB}"/>
              </a:ext>
            </a:extLst>
          </p:cNvPr>
          <p:cNvGrpSpPr/>
          <p:nvPr/>
        </p:nvGrpSpPr>
        <p:grpSpPr>
          <a:xfrm>
            <a:off x="4739283" y="3813293"/>
            <a:ext cx="2657996" cy="775915"/>
            <a:chOff x="6019577" y="3880321"/>
            <a:chExt cx="2657996" cy="775915"/>
          </a:xfrm>
        </p:grpSpPr>
        <p:sp>
          <p:nvSpPr>
            <p:cNvPr id="30" name="Text 24"/>
            <p:cNvSpPr/>
            <p:nvPr/>
          </p:nvSpPr>
          <p:spPr>
            <a:xfrm>
              <a:off x="6019577" y="3880321"/>
              <a:ext cx="266477" cy="1665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000" dirty="0">
                  <a:solidFill>
                    <a:srgbClr val="3A3630"/>
                  </a:solidFill>
                  <a:latin typeface="Poppins Light" panose="020B0502040204020203" pitchFamily="2" charset="0"/>
                  <a:ea typeface="Lora Light" pitchFamily="34" charset="-122"/>
                  <a:cs typeface="Poppins Light" panose="020B0502040204020203" pitchFamily="2" charset="0"/>
                </a:rPr>
                <a:t>03</a:t>
              </a:r>
              <a:endParaRPr lang="en-US" sz="1000" dirty="0"/>
            </a:p>
          </p:txBody>
        </p:sp>
        <p:sp>
          <p:nvSpPr>
            <p:cNvPr id="31" name="Shape 25"/>
            <p:cNvSpPr/>
            <p:nvPr/>
          </p:nvSpPr>
          <p:spPr>
            <a:xfrm>
              <a:off x="6019577" y="4092476"/>
              <a:ext cx="2657996" cy="14288"/>
            </a:xfrm>
            <a:prstGeom prst="rect">
              <a:avLst/>
            </a:prstGeom>
            <a:solidFill>
              <a:srgbClr val="38512F"/>
            </a:solidFill>
            <a:ln/>
          </p:spPr>
        </p:sp>
        <p:sp>
          <p:nvSpPr>
            <p:cNvPr id="32" name="Text 26"/>
            <p:cNvSpPr/>
            <p:nvPr/>
          </p:nvSpPr>
          <p:spPr>
            <a:xfrm>
              <a:off x="6019577" y="4187651"/>
              <a:ext cx="1567607" cy="1959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3A3630"/>
                  </a:solidFill>
                  <a:latin typeface="Poppins" panose="020B0502040204020203" pitchFamily="2" charset="0"/>
                  <a:ea typeface="Lora" pitchFamily="34" charset="-122"/>
                  <a:cs typeface="Poppins" panose="020B0502040204020203" pitchFamily="2" charset="0"/>
                </a:rPr>
                <a:t>Storage</a:t>
              </a:r>
              <a:endParaRPr lang="en-US" sz="1200" dirty="0"/>
            </a:p>
          </p:txBody>
        </p:sp>
        <p:sp>
          <p:nvSpPr>
            <p:cNvPr id="33" name="Text 27"/>
            <p:cNvSpPr/>
            <p:nvPr/>
          </p:nvSpPr>
          <p:spPr>
            <a:xfrm>
              <a:off x="6019577" y="4454723"/>
              <a:ext cx="2657996" cy="2015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000" dirty="0">
                  <a:solidFill>
                    <a:srgbClr val="3A363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Consistent volume driver in Office Supplies</a:t>
              </a:r>
              <a:endParaRPr lang="en-US" sz="1000" dirty="0"/>
            </a:p>
          </p:txBody>
        </p:sp>
      </p:grp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608409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Interactive Dashboard Showcase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712788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interactive dashboard was built in </a:t>
            </a: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 / Excel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deliver real-time business insights with dynamic filtering and drill-down capability.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2359819"/>
            <a:ext cx="4667845" cy="2175272"/>
          </a:xfrm>
          <a:prstGeom prst="roundRect">
            <a:avLst>
              <a:gd name="adj" fmla="val 1032"/>
            </a:avLst>
          </a:prstGeom>
          <a:solidFill>
            <a:srgbClr val="F3E7D4"/>
          </a:solidFill>
          <a:ln/>
        </p:spPr>
      </p:sp>
      <p:sp>
        <p:nvSpPr>
          <p:cNvPr id="6" name="Shape 3"/>
          <p:cNvSpPr/>
          <p:nvPr/>
        </p:nvSpPr>
        <p:spPr>
          <a:xfrm>
            <a:off x="523577" y="2359819"/>
            <a:ext cx="2333923" cy="1327026"/>
          </a:xfrm>
          <a:prstGeom prst="roundRect">
            <a:avLst>
              <a:gd name="adj" fmla="val 1691"/>
            </a:avLst>
          </a:prstGeom>
          <a:solidFill>
            <a:srgbClr val="F3E7D4"/>
          </a:solidFill>
          <a:ln/>
        </p:spPr>
      </p:sp>
      <p:sp>
        <p:nvSpPr>
          <p:cNvPr id="7" name="Text 4"/>
          <p:cNvSpPr/>
          <p:nvPr/>
        </p:nvSpPr>
        <p:spPr>
          <a:xfrm>
            <a:off x="673150" y="250939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Dynamic Filters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3150" y="2819102"/>
            <a:ext cx="18103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Slice by region, segment, category, and date range instantly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57500" y="2359819"/>
            <a:ext cx="2333923" cy="1327026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2359819"/>
            <a:ext cx="19050" cy="1327026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1" name="Text 8"/>
          <p:cNvSpPr/>
          <p:nvPr/>
        </p:nvSpPr>
        <p:spPr>
          <a:xfrm>
            <a:off x="3231505" y="250939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Live KPI Cards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231505" y="2819102"/>
            <a:ext cx="18103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Sales, Profit, and Margin update in real time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670497" y="2836292"/>
            <a:ext cx="374005" cy="374005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3962" y="2929756"/>
            <a:ext cx="187003" cy="18700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3577" y="3686845"/>
            <a:ext cx="4667845" cy="848246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6" name="Shape 12"/>
          <p:cNvSpPr/>
          <p:nvPr/>
        </p:nvSpPr>
        <p:spPr>
          <a:xfrm>
            <a:off x="523577" y="3686845"/>
            <a:ext cx="4667845" cy="19050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7" name="Text 13"/>
          <p:cNvSpPr/>
          <p:nvPr/>
        </p:nvSpPr>
        <p:spPr>
          <a:xfrm>
            <a:off x="673150" y="38364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Visual Charts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73150" y="4146128"/>
            <a:ext cx="414426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Bar, donut, and map charts for rapid decision-making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DDEE2-F076-612E-4C95-0BF203C06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6" b="4439"/>
          <a:stretch>
            <a:fillRect/>
          </a:stretch>
        </p:blipFill>
        <p:spPr>
          <a:xfrm>
            <a:off x="520905" y="823798"/>
            <a:ext cx="8102190" cy="43197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39CAA5-39B2-CA0E-D7FB-0EE958DD856A}"/>
              </a:ext>
            </a:extLst>
          </p:cNvPr>
          <p:cNvSpPr txBox="1"/>
          <p:nvPr/>
        </p:nvSpPr>
        <p:spPr>
          <a:xfrm>
            <a:off x="511669" y="136584"/>
            <a:ext cx="4572000" cy="528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Dashboard Screenshot</a:t>
            </a:r>
            <a:endParaRPr lang="en-US" sz="2750" dirty="0"/>
          </a:p>
        </p:txBody>
      </p:sp>
    </p:spTree>
    <p:extLst>
      <p:ext uri="{BB962C8B-B14F-4D97-AF65-F5344CB8AC3E}">
        <p14:creationId xmlns:p14="http://schemas.microsoft.com/office/powerpoint/2010/main" val="2663713560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8464" y="348779"/>
            <a:ext cx="5178698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Statistical Validation &amp; Hypothesis Testing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28464" y="847055"/>
            <a:ext cx="7286997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Question:</a:t>
            </a: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the Technology category significantly more profitable than Furniture?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64" y="1193453"/>
            <a:ext cx="3506614" cy="350661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64" y="1193453"/>
            <a:ext cx="3506614" cy="350661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13536" y="1390724"/>
            <a:ext cx="3506614" cy="816099"/>
          </a:xfrm>
          <a:prstGeom prst="roundRect">
            <a:avLst>
              <a:gd name="adj" fmla="val 8403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699248" y="1390724"/>
            <a:ext cx="57150" cy="816099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8" name="Text 4"/>
          <p:cNvSpPr/>
          <p:nvPr/>
        </p:nvSpPr>
        <p:spPr>
          <a:xfrm>
            <a:off x="4882828" y="1517154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H₀ — Null Hypothesis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882828" y="1766218"/>
            <a:ext cx="3210892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significant difference in average profit between Technology and Furniture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713536" y="2290911"/>
            <a:ext cx="3506614" cy="659011"/>
          </a:xfrm>
          <a:prstGeom prst="roundRect">
            <a:avLst>
              <a:gd name="adj" fmla="val 10407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99248" y="2290911"/>
            <a:ext cx="57150" cy="659011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12" name="Text 8"/>
          <p:cNvSpPr/>
          <p:nvPr/>
        </p:nvSpPr>
        <p:spPr>
          <a:xfrm>
            <a:off x="4882828" y="2417341"/>
            <a:ext cx="1722016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H₁ — Alternative Hypothesis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82828" y="2666405"/>
            <a:ext cx="3210892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 category has a statistically higher average profit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713536" y="3034010"/>
            <a:ext cx="3506614" cy="659011"/>
          </a:xfrm>
          <a:prstGeom prst="roundRect">
            <a:avLst>
              <a:gd name="adj" fmla="val 10407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99248" y="3034010"/>
            <a:ext cx="57150" cy="659011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16" name="Text 12"/>
          <p:cNvSpPr/>
          <p:nvPr/>
        </p:nvSpPr>
        <p:spPr>
          <a:xfrm>
            <a:off x="4882828" y="3160440"/>
            <a:ext cx="1757437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Method: Independent T-Test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82828" y="3409504"/>
            <a:ext cx="3210892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p-value &lt; 0.05</a:t>
            </a: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Null hypothesis rejected at 95% confidence level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713536" y="3787676"/>
            <a:ext cx="3506614" cy="715045"/>
          </a:xfrm>
          <a:prstGeom prst="roundRect">
            <a:avLst>
              <a:gd name="adj" fmla="val 2354"/>
            </a:avLst>
          </a:prstGeom>
          <a:solidFill>
            <a:srgbClr val="B6FCB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678" y="3943945"/>
            <a:ext cx="140196" cy="1121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78016" y="3899743"/>
            <a:ext cx="3029992" cy="47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Conclusion:</a:t>
            </a:r>
            <a:r>
              <a:rPr lang="en-US" sz="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Technology is statistically and significantly more profitable than Furniture. Data validates the strategic case for increased investment.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982" y="361801"/>
            <a:ext cx="4563442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Recommendations &amp; Conclusion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49982" y="960834"/>
            <a:ext cx="4066803" cy="1291010"/>
          </a:xfrm>
          <a:prstGeom prst="roundRect">
            <a:avLst>
              <a:gd name="adj" fmla="val 1494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4269" y="975122"/>
            <a:ext cx="4038228" cy="385688"/>
          </a:xfrm>
          <a:prstGeom prst="roundRect">
            <a:avLst>
              <a:gd name="adj" fmla="val 555"/>
            </a:avLst>
          </a:prstGeom>
          <a:solidFill>
            <a:srgbClr val="F3E7D4"/>
          </a:solidFill>
          <a:ln/>
        </p:spPr>
      </p:sp>
      <p:sp>
        <p:nvSpPr>
          <p:cNvPr id="5" name="Text 3"/>
          <p:cNvSpPr/>
          <p:nvPr/>
        </p:nvSpPr>
        <p:spPr>
          <a:xfrm>
            <a:off x="2386980" y="1047452"/>
            <a:ext cx="192807" cy="2410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2782" y="1471240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Invest in Technology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2782" y="1726555"/>
            <a:ext cx="37812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Expand product range and marketing spend in the highest-margin category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27215" y="960834"/>
            <a:ext cx="4066803" cy="1291010"/>
          </a:xfrm>
          <a:prstGeom prst="roundRect">
            <a:avLst>
              <a:gd name="adj" fmla="val 1494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1503" y="975122"/>
            <a:ext cx="4038228" cy="385688"/>
          </a:xfrm>
          <a:prstGeom prst="roundRect">
            <a:avLst>
              <a:gd name="adj" fmla="val 555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6564213" y="1047452"/>
            <a:ext cx="192807" cy="2410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70016" y="1471240"/>
            <a:ext cx="1526307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Fix Furniture Margins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70016" y="1726555"/>
            <a:ext cx="37812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Revise discount strategies and pricing models for Tables and Bookcases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9982" y="2362274"/>
            <a:ext cx="4066803" cy="1291010"/>
          </a:xfrm>
          <a:prstGeom prst="roundRect">
            <a:avLst>
              <a:gd name="adj" fmla="val 1494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269" y="2376562"/>
            <a:ext cx="4038228" cy="385688"/>
          </a:xfrm>
          <a:prstGeom prst="roundRect">
            <a:avLst>
              <a:gd name="adj" fmla="val 555"/>
            </a:avLst>
          </a:prstGeom>
          <a:solidFill>
            <a:srgbClr val="F3E7D4"/>
          </a:solidFill>
          <a:ln/>
        </p:spPr>
      </p:sp>
      <p:sp>
        <p:nvSpPr>
          <p:cNvPr id="15" name="Text 13"/>
          <p:cNvSpPr/>
          <p:nvPr/>
        </p:nvSpPr>
        <p:spPr>
          <a:xfrm>
            <a:off x="2386980" y="2448892"/>
            <a:ext cx="192807" cy="2410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2782" y="2872680"/>
            <a:ext cx="1840409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Double Down on the West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2782" y="3127995"/>
            <a:ext cx="37812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Prioritise marketing and logistics investment in the top-performing region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7215" y="2362274"/>
            <a:ext cx="4066803" cy="1291010"/>
          </a:xfrm>
          <a:prstGeom prst="roundRect">
            <a:avLst>
              <a:gd name="adj" fmla="val 1494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1503" y="2376562"/>
            <a:ext cx="4038228" cy="385688"/>
          </a:xfrm>
          <a:prstGeom prst="roundRect">
            <a:avLst>
              <a:gd name="adj" fmla="val 555"/>
            </a:avLst>
          </a:prstGeom>
          <a:solidFill>
            <a:srgbClr val="F3E7D4"/>
          </a:solidFill>
          <a:ln/>
        </p:spPr>
      </p:sp>
      <p:sp>
        <p:nvSpPr>
          <p:cNvPr id="20" name="Text 18"/>
          <p:cNvSpPr/>
          <p:nvPr/>
        </p:nvSpPr>
        <p:spPr>
          <a:xfrm>
            <a:off x="6564213" y="2448892"/>
            <a:ext cx="192807" cy="2410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70016" y="2872680"/>
            <a:ext cx="2108969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oppins" panose="020B0502040204020203" pitchFamily="2" charset="0"/>
                <a:ea typeface="Lora" pitchFamily="34" charset="-122"/>
                <a:cs typeface="Poppins" panose="020B0502040204020203" pitchFamily="2" charset="0"/>
              </a:rPr>
              <a:t>Strengthen Consumer Loyalty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70016" y="3127995"/>
            <a:ext cx="37812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 loyalty programmes targeting the Consumer segment — the largest revenue driver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9982" y="3777555"/>
            <a:ext cx="8244036" cy="688628"/>
          </a:xfrm>
          <a:prstGeom prst="roundRect">
            <a:avLst>
              <a:gd name="adj" fmla="val 2801"/>
            </a:avLst>
          </a:prstGeom>
          <a:solidFill>
            <a:srgbClr val="B6D6FC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5" y="3958977"/>
            <a:ext cx="160660" cy="128513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67668" y="3920058"/>
            <a:ext cx="7697837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Conclusion:</a:t>
            </a: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Technology is the star performer; Furniture demands profitability optimisation. Statistical testing validates these insights — empowering confident, data-driven strategic decisions.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9982" y="4590455"/>
            <a:ext cx="82440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Thank You</a:t>
            </a: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Smit Shewale | Data Analytics Internship Project @ApexPlanet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649</Words>
  <Application>Microsoft Office PowerPoint</Application>
  <PresentationFormat>On-screen Show (16:9)</PresentationFormat>
  <Paragraphs>133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Source Sans 3</vt:lpstr>
      <vt:lpstr>Poppins</vt:lpstr>
      <vt:lpstr>Poppins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smit</dc:creator>
  <cp:lastModifiedBy>smit s</cp:lastModifiedBy>
  <cp:revision>3</cp:revision>
  <dcterms:created xsi:type="dcterms:W3CDTF">2026-05-07T08:38:07Z</dcterms:created>
  <dcterms:modified xsi:type="dcterms:W3CDTF">2026-05-07T10:25:40Z</dcterms:modified>
</cp:coreProperties>
</file>